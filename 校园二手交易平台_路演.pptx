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3.png"/><Relationship Id="rId3" Type="http://schemas.openxmlformats.org/officeDocument/2006/relationships/tags" Target="../tags/tag3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15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image" Target="../media/image17.png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7" Type="http://schemas.openxmlformats.org/officeDocument/2006/relationships/notesSlide" Target="../notesSlides/notesSlide6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44.xml"/><Relationship Id="rId34" Type="http://schemas.openxmlformats.org/officeDocument/2006/relationships/tags" Target="../tags/tag43.xml"/><Relationship Id="rId33" Type="http://schemas.openxmlformats.org/officeDocument/2006/relationships/tags" Target="../tags/tag42.xml"/><Relationship Id="rId32" Type="http://schemas.openxmlformats.org/officeDocument/2006/relationships/image" Target="../media/image11.png"/><Relationship Id="rId31" Type="http://schemas.openxmlformats.org/officeDocument/2006/relationships/tags" Target="../tags/tag41.xml"/><Relationship Id="rId30" Type="http://schemas.openxmlformats.org/officeDocument/2006/relationships/tags" Target="../tags/tag40.xml"/><Relationship Id="rId3" Type="http://schemas.openxmlformats.org/officeDocument/2006/relationships/image" Target="../media/image16.png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image" Target="../media/image20.png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7.xml"/><Relationship Id="rId19" Type="http://schemas.openxmlformats.org/officeDocument/2006/relationships/tags" Target="../tags/tag30.xml"/><Relationship Id="rId18" Type="http://schemas.openxmlformats.org/officeDocument/2006/relationships/image" Target="../media/image19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image" Target="../media/image18.png"/><Relationship Id="rId10" Type="http://schemas.openxmlformats.org/officeDocument/2006/relationships/tags" Target="../tags/tag23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20.png"/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1645920"/>
          </a:xfrm>
          <a:prstGeom prst="rect">
            <a:avLst/>
          </a:prstGeom>
          <a:solidFill>
            <a:srgbClr val="1A2D4A"/>
          </a:solidFill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731520" y="109728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校园二手交易平台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Campus Second-hand Trading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286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731520" y="283464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一个让本校学生发布和搜索二手物品、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并直接沟通交易的校园专属平台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618488" cy="365760"/>
          </a:xfrm>
          <a:prstGeom prst="rect">
            <a:avLst/>
          </a:prstGeom>
          <a:solidFill>
            <a:srgbClr val="42B883"/>
          </a:solidFill>
        </p:spPr>
      </p:sp>
      <p:sp>
        <p:nvSpPr>
          <p:cNvPr id="9" name="Text 7"/>
          <p:cNvSpPr/>
          <p:nvPr/>
        </p:nvSpPr>
        <p:spPr>
          <a:xfrm>
            <a:off x="731520" y="3749040"/>
            <a:ext cx="1618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Vue 3 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87168" y="3749040"/>
            <a:ext cx="1618488" cy="36576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Text 9"/>
          <p:cNvSpPr/>
          <p:nvPr/>
        </p:nvSpPr>
        <p:spPr>
          <a:xfrm>
            <a:off x="2487168" y="3749040"/>
            <a:ext cx="1618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Flask 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42816" y="3749040"/>
            <a:ext cx="1783080" cy="365760"/>
          </a:xfrm>
          <a:prstGeom prst="rect">
            <a:avLst/>
          </a:prstGeom>
          <a:solidFill>
            <a:srgbClr val="003B57"/>
          </a:solidFill>
        </p:spPr>
      </p:sp>
      <p:sp>
        <p:nvSpPr>
          <p:cNvPr id="13" name="Text 11"/>
          <p:cNvSpPr/>
          <p:nvPr/>
        </p:nvSpPr>
        <p:spPr>
          <a:xfrm>
            <a:off x="4242816" y="37490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SQLite 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3749040"/>
            <a:ext cx="2770632" cy="365760"/>
          </a:xfrm>
          <a:prstGeom prst="rect">
            <a:avLst/>
          </a:prstGeom>
          <a:solidFill>
            <a:srgbClr val="409EFF"/>
          </a:solidFill>
        </p:spPr>
      </p:sp>
      <p:sp>
        <p:nvSpPr>
          <p:cNvPr id="15" name="Text 13"/>
          <p:cNvSpPr/>
          <p:nvPr/>
        </p:nvSpPr>
        <p:spPr>
          <a:xfrm>
            <a:off x="6163056" y="374904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Element Plus 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43891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产品路演 · 2026.05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一页摘要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146304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" cy="146304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项目名称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校园二手交易平台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Campus Trading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1874520" cy="146304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88720"/>
            <a:ext cx="45720" cy="146304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71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8960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技术栈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97480" y="182880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Vue3 + Flask + SQLite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97480" y="21945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全栈自研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0" y="1188720"/>
            <a:ext cx="1874520" cy="146304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1188720"/>
            <a:ext cx="45720" cy="146304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交付周期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54880" y="182880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1-2 </a:t>
            </a:r>
            <a:r>
              <a:rPr lang="zh-CN" alt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天</a:t>
            </a:r>
            <a:endParaRPr lang="zh-CN" altLang="en-US" sz="1400" dirty="0">
              <a:solidFill>
                <a:srgbClr val="1E293B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754880" y="21945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人全栈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629400" y="1188720"/>
            <a:ext cx="1874520" cy="146304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29400" y="1188720"/>
            <a:ext cx="45720" cy="146304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3716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核心定位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812280" y="182880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校园专属交易平台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812280" y="21945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费用·面对面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29" name="Shape 23"/>
          <p:cNvSpPr/>
          <p:nvPr/>
        </p:nvSpPr>
        <p:spPr>
          <a:xfrm>
            <a:off x="457200" y="2880360"/>
            <a:ext cx="45720" cy="164592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1752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30175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需要决策的事项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85800" y="33832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采用学校邮箱验证作为身份方案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首批种子用户的推广渠道选择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平台命名是否与学校品牌关联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背景与机会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当前校园二手交易的痛点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9144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" cy="914400"/>
          </a:xfrm>
          <a:prstGeom prst="rect">
            <a:avLst/>
          </a:prstGeom>
          <a:solidFill>
            <a:srgbClr val="DC2626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71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信息分散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6916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微信群/QQ群/表白墙多头发布，消息很快被刷走，难以持续触达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5029200" cy="9144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423160"/>
            <a:ext cx="45720" cy="914400"/>
          </a:xfrm>
          <a:prstGeom prst="rect">
            <a:avLst/>
          </a:prstGeom>
          <a:solidFill>
            <a:srgbClr val="DC2626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03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514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不可搜索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88720" y="28346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买家只能爬楼翻聊天记录，无法按关键词、分类、价格筛选商品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566160"/>
            <a:ext cx="5029200" cy="9144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566160"/>
            <a:ext cx="45720" cy="914400"/>
          </a:xfrm>
          <a:prstGeom prst="rect">
            <a:avLst/>
          </a:prstGeom>
          <a:solidFill>
            <a:srgbClr val="DC2626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657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信任缺失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88720" y="39776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校外平台（闲鱼）非校园专属，缺乏同校身份背书，交易需邮寄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0" y="1280160"/>
            <a:ext cx="2743200" cy="2926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0" y="1280160"/>
            <a:ext cx="2743200" cy="54864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630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26480" y="20116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不做的代价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126480" y="2468880"/>
            <a:ext cx="23774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学生继续在微信群刷屏式交易，体验持续恶化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校内闲置物品流通效率低下，资源浪费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失去以「交易」为切入点建立校园生活服务生态的机会窗口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机会与关键数据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为什么现在做？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5544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5720" cy="155448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高频刚需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每学期开学（买教材）和期末/毕业季（卖闲置）两个爆发节点，周期性需求明确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606040" cy="15544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234440"/>
            <a:ext cx="45720" cy="155448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4173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信任优势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19202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校园环境天然具备信任基础，同校当面交易免去邮寄和欺诈顾虑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234440"/>
            <a:ext cx="2606040" cy="15544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234440"/>
            <a:ext cx="45720" cy="155448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4173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零成本获客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19202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校内推广渠道集中（班级群、公众号、食堂海报），获客成本几乎为零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2606040" cy="146304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57200" y="324612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 万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457200" y="37947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校区在校生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7200" y="41148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目标用户池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91840" y="3108960"/>
            <a:ext cx="2606040" cy="146304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3291840" y="324612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3,000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3291840" y="37947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目标月活用户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3291840" y="41148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在校生 15%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126480" y="3108960"/>
            <a:ext cx="2606040" cy="146304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126480" y="324612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500+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6126480" y="37947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月商品发布数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126480" y="411480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供给侧活跃度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方案概览：系统架构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Vue3 + Flask + SQLite 轻量全栈方案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85800" y="3627120"/>
            <a:ext cx="6400800" cy="914400"/>
          </a:xfrm>
          <a:prstGeom prst="rect">
            <a:avLst/>
          </a:prstGeom>
          <a:solidFill>
            <a:srgbClr val="152238"/>
          </a:solidFill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85800" y="3627120"/>
            <a:ext cx="54864" cy="91440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0120" y="3810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508760" y="37642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SQLite 数据库  +  本地图片存储</a:t>
            </a:r>
            <a:endParaRPr lang="en-US" sz="15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1508760" y="41300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100" dirty="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685800" y="2438400"/>
            <a:ext cx="6400800" cy="9144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685800" y="2438400"/>
            <a:ext cx="54864" cy="91440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13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60120" y="2621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1508760" y="25755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Flask REST API  +  WebSocket  (Python)</a:t>
            </a:r>
            <a:endParaRPr lang="en-US" sz="150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1508760" y="29413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Layer</a:t>
            </a:r>
            <a:endParaRPr lang="en-US" sz="1100" dirty="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3"/>
          <p:cNvSpPr/>
          <p:nvPr>
            <p:custDataLst>
              <p:tags r:id="rId13"/>
            </p:custDataLst>
          </p:nvPr>
        </p:nvSpPr>
        <p:spPr>
          <a:xfrm>
            <a:off x="685800" y="1249680"/>
            <a:ext cx="6400800" cy="9144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Shape 14"/>
          <p:cNvSpPr/>
          <p:nvPr>
            <p:custDataLst>
              <p:tags r:id="rId14"/>
            </p:custDataLst>
          </p:nvPr>
        </p:nvSpPr>
        <p:spPr>
          <a:xfrm>
            <a:off x="685800" y="1249680"/>
            <a:ext cx="54864" cy="91440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19" name="Image 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60120" y="14325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1508760" y="13868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Vue 3  +  Element Plus  SPA  (Desktop)</a:t>
            </a:r>
            <a:endParaRPr lang="en-US" sz="1500" dirty="0"/>
          </a:p>
        </p:txBody>
      </p:sp>
      <p:sp>
        <p:nvSpPr>
          <p:cNvPr id="21" name="Text 16"/>
          <p:cNvSpPr/>
          <p:nvPr>
            <p:custDataLst>
              <p:tags r:id="rId18"/>
            </p:custDataLst>
          </p:nvPr>
        </p:nvSpPr>
        <p:spPr>
          <a:xfrm>
            <a:off x="1508760" y="1752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100" dirty="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48640" y="1463040"/>
            <a:ext cx="77724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9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85800" y="11430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方案概览：核心体验流程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从注册到达成交易，全链路闭环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463040"/>
            <a:ext cx="640080" cy="640080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7220" y="15316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548640" y="12801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274320" y="22402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注册登录</a:t>
            </a:r>
            <a:endParaRPr lang="en-US" sz="13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274320" y="2560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学校邮箱验证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91640" y="160020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>
            <p:custDataLst>
              <p:tags r:id="rId9"/>
            </p:custDataLst>
          </p:nvPr>
        </p:nvSpPr>
        <p:spPr>
          <a:xfrm>
            <a:off x="2377440" y="1463040"/>
            <a:ext cx="640080" cy="64008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2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446020" y="15316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>
            <p:custDataLst>
              <p:tags r:id="rId12"/>
            </p:custDataLst>
          </p:nvPr>
        </p:nvSpPr>
        <p:spPr>
          <a:xfrm>
            <a:off x="2377440" y="12801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/>
          <p:nvPr>
            <p:custDataLst>
              <p:tags r:id="rId13"/>
            </p:custDataLst>
          </p:nvPr>
        </p:nvSpPr>
        <p:spPr>
          <a:xfrm>
            <a:off x="2103120" y="22402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浏览搜索</a:t>
            </a:r>
            <a:endParaRPr lang="en-US" sz="1300" dirty="0"/>
          </a:p>
        </p:txBody>
      </p:sp>
      <p:sp>
        <p:nvSpPr>
          <p:cNvPr id="15" name="Text 10"/>
          <p:cNvSpPr/>
          <p:nvPr>
            <p:custDataLst>
              <p:tags r:id="rId14"/>
            </p:custDataLst>
          </p:nvPr>
        </p:nvSpPr>
        <p:spPr>
          <a:xfrm>
            <a:off x="2103120" y="2560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信息流 + 关键词 + 分类筛选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20440" y="160020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>
            <p:custDataLst>
              <p:tags r:id="rId16"/>
            </p:custDataLst>
          </p:nvPr>
        </p:nvSpPr>
        <p:spPr>
          <a:xfrm>
            <a:off x="4206240" y="1463040"/>
            <a:ext cx="640080" cy="64008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18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274820" y="153162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>
            <p:custDataLst>
              <p:tags r:id="rId19"/>
            </p:custDataLst>
          </p:nvPr>
        </p:nvSpPr>
        <p:spPr>
          <a:xfrm>
            <a:off x="4206240" y="12801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3"/>
          <p:cNvSpPr/>
          <p:nvPr>
            <p:custDataLst>
              <p:tags r:id="rId20"/>
            </p:custDataLst>
          </p:nvPr>
        </p:nvSpPr>
        <p:spPr>
          <a:xfrm>
            <a:off x="3931920" y="22402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查看详情</a:t>
            </a:r>
            <a:endParaRPr lang="en-US" sz="1300" dirty="0"/>
          </a:p>
        </p:txBody>
      </p:sp>
      <p:sp>
        <p:nvSpPr>
          <p:cNvPr id="21" name="Text 14"/>
          <p:cNvSpPr/>
          <p:nvPr>
            <p:custDataLst>
              <p:tags r:id="rId21"/>
            </p:custDataLst>
          </p:nvPr>
        </p:nvSpPr>
        <p:spPr>
          <a:xfrm>
            <a:off x="3931920" y="2560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商品大图、成色、卖家信息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49240" y="1600200"/>
            <a:ext cx="320040" cy="320040"/>
          </a:xfrm>
          <a:prstGeom prst="rect">
            <a:avLst/>
          </a:prstGeom>
        </p:spPr>
      </p:pic>
      <p:sp>
        <p:nvSpPr>
          <p:cNvPr id="23" name="Shape 15"/>
          <p:cNvSpPr/>
          <p:nvPr>
            <p:custDataLst>
              <p:tags r:id="rId23"/>
            </p:custDataLst>
          </p:nvPr>
        </p:nvSpPr>
        <p:spPr>
          <a:xfrm>
            <a:off x="6035040" y="1463040"/>
            <a:ext cx="640080" cy="640080"/>
          </a:xfrm>
          <a:prstGeom prst="rect">
            <a:avLst/>
          </a:prstGeom>
          <a:solidFill>
            <a:srgbClr val="1D4ED8"/>
          </a:solidFill>
        </p:spPr>
      </p:sp>
      <p:pic>
        <p:nvPicPr>
          <p:cNvPr id="24" name="Image 6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103620" y="153162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>
            <p:custDataLst>
              <p:tags r:id="rId26"/>
            </p:custDataLst>
          </p:nvPr>
        </p:nvSpPr>
        <p:spPr>
          <a:xfrm>
            <a:off x="6035040" y="12801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17"/>
          <p:cNvSpPr/>
          <p:nvPr>
            <p:custDataLst>
              <p:tags r:id="rId27"/>
            </p:custDataLst>
          </p:nvPr>
        </p:nvSpPr>
        <p:spPr>
          <a:xfrm>
            <a:off x="5760720" y="22402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即时聊天</a:t>
            </a:r>
            <a:endParaRPr lang="en-US" sz="1300" dirty="0"/>
          </a:p>
        </p:txBody>
      </p:sp>
      <p:sp>
        <p:nvSpPr>
          <p:cNvPr id="27" name="Text 18"/>
          <p:cNvSpPr/>
          <p:nvPr>
            <p:custDataLst>
              <p:tags r:id="rId28"/>
            </p:custDataLst>
          </p:nvPr>
        </p:nvSpPr>
        <p:spPr>
          <a:xfrm>
            <a:off x="5760720" y="2560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与卖家直接沟通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178040" y="1600200"/>
            <a:ext cx="320040" cy="320040"/>
          </a:xfrm>
          <a:prstGeom prst="rect">
            <a:avLst/>
          </a:prstGeom>
        </p:spPr>
      </p:pic>
      <p:sp>
        <p:nvSpPr>
          <p:cNvPr id="29" name="Shape 19"/>
          <p:cNvSpPr/>
          <p:nvPr>
            <p:custDataLst>
              <p:tags r:id="rId30"/>
            </p:custDataLst>
          </p:nvPr>
        </p:nvSpPr>
        <p:spPr>
          <a:xfrm>
            <a:off x="7863840" y="1463040"/>
            <a:ext cx="640080" cy="64008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30" name="Image 8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932420" y="1531620"/>
            <a:ext cx="320040" cy="320040"/>
          </a:xfrm>
          <a:prstGeom prst="rect">
            <a:avLst/>
          </a:prstGeom>
        </p:spPr>
      </p:pic>
      <p:sp>
        <p:nvSpPr>
          <p:cNvPr id="31" name="Text 20"/>
          <p:cNvSpPr/>
          <p:nvPr>
            <p:custDataLst>
              <p:tags r:id="rId33"/>
            </p:custDataLst>
          </p:nvPr>
        </p:nvSpPr>
        <p:spPr>
          <a:xfrm>
            <a:off x="7863840" y="12801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1"/>
          <p:cNvSpPr/>
          <p:nvPr>
            <p:custDataLst>
              <p:tags r:id="rId34"/>
            </p:custDataLst>
          </p:nvPr>
        </p:nvSpPr>
        <p:spPr>
          <a:xfrm>
            <a:off x="7589520" y="224028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当面交易</a:t>
            </a:r>
            <a:endParaRPr lang="en-US" sz="1300" dirty="0"/>
          </a:p>
        </p:txBody>
      </p:sp>
      <p:sp>
        <p:nvSpPr>
          <p:cNvPr id="33" name="Text 22"/>
          <p:cNvSpPr/>
          <p:nvPr>
            <p:custDataLst>
              <p:tags r:id="rId35"/>
            </p:custDataLst>
          </p:nvPr>
        </p:nvSpPr>
        <p:spPr>
          <a:xfrm>
            <a:off x="7589520" y="2560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同校安全交易（平台外）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457200" y="3383280"/>
            <a:ext cx="8229600" cy="5486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2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 平台专注信息撮合，交易在线下当面完成，保障安全与信任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方案概览：技术选型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为什么选这套技术栈？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371600"/>
          <a:ext cx="8229600" cy="214884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anose="020B0A04020102020204" pitchFamily="34" charset="0"/>
                          <a:ea typeface="Arial Black" panose="020B0A04020102020204" pitchFamily="34" charset="-122"/>
                          <a:cs typeface="Arial Black" panose="020B0A04020102020204" pitchFamily="34" charset="-120"/>
                        </a:rPr>
                        <a:t>方案</a:t>
                      </a:r>
                      <a:endParaRPr lang="en-US" sz="1200" dirty="0">
                        <a:latin typeface="Arial Black" panose="020B0A04020102020204" pitchFamily="34" charset="0"/>
                        <a:ea typeface="Arial Black" panose="020B0A04020102020204" pitchFamily="34" charset="0"/>
                        <a:cs typeface="Arial Black" panose="020B0A04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anose="020B0A04020102020204" pitchFamily="34" charset="0"/>
                          <a:ea typeface="Arial Black" panose="020B0A04020102020204" pitchFamily="34" charset="-122"/>
                          <a:cs typeface="Arial Black" panose="020B0A04020102020204" pitchFamily="34" charset="-120"/>
                        </a:rPr>
                        <a:t>评价</a:t>
                      </a:r>
                      <a:endParaRPr lang="en-US" sz="1200" dirty="0">
                        <a:latin typeface="Arial Black" panose="020B0A04020102020204" pitchFamily="34" charset="0"/>
                        <a:ea typeface="Arial Black" panose="020B0A04020102020204" pitchFamily="34" charset="0"/>
                        <a:cs typeface="Arial Black" panose="020B0A04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anose="020B0A04020102020204" pitchFamily="34" charset="0"/>
                          <a:ea typeface="Arial Black" panose="020B0A04020102020204" pitchFamily="34" charset="-122"/>
                          <a:cs typeface="Arial Black" panose="020B0A04020102020204" pitchFamily="34" charset="-120"/>
                        </a:rPr>
                        <a:t>原因</a:t>
                      </a:r>
                      <a:endParaRPr lang="en-US" sz="1200" dirty="0">
                        <a:latin typeface="Arial Black" panose="020B0A04020102020204" pitchFamily="34" charset="0"/>
                        <a:ea typeface="Arial Black" panose="020B0A04020102020204" pitchFamily="34" charset="0"/>
                        <a:cs typeface="Arial Black" panose="020B0A04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Vue3 + Flask + SQLite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✅ 选定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轻量快速，MVP 阶段开发效率最高，SQLite 零运维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Vue3 + Flask + MySQL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 暂不选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MVP 阶段 SQLite 够用，无需额外部署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React + Django + PostgreSQL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 暂不选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团队技术栈偏好，上手成本更高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微信小程序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❌ 暂不选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审核周期长，桌面端管理不便，调试效率低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7" name="Shape 4"/>
          <p:cNvSpPr/>
          <p:nvPr/>
        </p:nvSpPr>
        <p:spPr>
          <a:xfrm>
            <a:off x="457200" y="3657600"/>
            <a:ext cx="45720" cy="1005840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94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3749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选型原则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51560" y="4114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MVP 追求「快」——降低开发与运维成本；后续用户量增长后可平滑迁移至 MySQL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预期影响：业务指标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上线 3 个月目标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2860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3,000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月活跃用户 (MAU)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30632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在校生 15% | 从 0 启动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606040" cy="22860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371600"/>
            <a:ext cx="2606040" cy="54864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00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240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500+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3429000" y="27432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月商品发布数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30632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供给侧核心指标 | MAU 15% 转化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606040" cy="22860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2402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1,500+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6263640" y="27432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月搜索使用率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63640" y="306324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发布数的 3 倍 | 需求侧活跃度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数据预估依据：同类校园产品首季度 MAU 通常在 10-20%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预期影响：投入产出分析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极低投入，高杠杆回报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" cy="137160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研发投入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16-23 人日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2148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人全栈，3-4 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45720" cy="137160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4630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服务器成本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40680" y="17830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极低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440680" y="2148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VPS 即可承载初期用户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926080"/>
            <a:ext cx="45720" cy="137160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1089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运营成本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34440" y="34290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几乎为零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234440" y="37947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班级群/公众号/海报推广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63440" y="292608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2926080"/>
            <a:ext cx="45720" cy="137160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1089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预期收益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440680" y="34290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校园生态入口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440680" y="37947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以交易切入，延伸更多校园服务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85470" y="255905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排期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4775" y="34290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910" y="2514600"/>
            <a:ext cx="795528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Shape 4"/>
          <p:cNvSpPr/>
          <p:nvPr/>
        </p:nvSpPr>
        <p:spPr>
          <a:xfrm>
            <a:off x="676910" y="2423160"/>
            <a:ext cx="182880" cy="1828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219710" y="18745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1150" y="109728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1150" y="1097280"/>
            <a:ext cx="914400" cy="274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329438" y="115214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需求定稿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438" y="144475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PRD 评审通过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761127" y="2423160"/>
            <a:ext cx="182880" cy="1828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303927" y="27889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2-4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95367" y="301752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95367" y="3017520"/>
            <a:ext cx="9144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1413655" y="307238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框架搭建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13655" y="336499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Vue3 骨架 + 登录页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845344" y="2423160"/>
            <a:ext cx="182880" cy="1828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2388144" y="18745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5-8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79584" y="109728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79584" y="1097280"/>
            <a:ext cx="9144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2497872" y="115214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用户系统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97872" y="144475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注册/登录/个人中心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929561" y="2423160"/>
            <a:ext cx="182880" cy="1828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3472361" y="27889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9-14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63801" y="301752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63801" y="3017520"/>
            <a:ext cx="9144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3582089" y="307238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商品系统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82089" y="336499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发布/管理/列表/详情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13779" y="2423160"/>
            <a:ext cx="182880" cy="1828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1" name="Text 29"/>
          <p:cNvSpPr/>
          <p:nvPr/>
        </p:nvSpPr>
        <p:spPr>
          <a:xfrm>
            <a:off x="4556579" y="18745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15-17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48019" y="109728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8019" y="1097280"/>
            <a:ext cx="9144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4666307" y="115214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搜索筛选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6307" y="144475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关键词搜索 + 分类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097996" y="2423160"/>
            <a:ext cx="182880" cy="1828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7" name="Text 35"/>
          <p:cNvSpPr/>
          <p:nvPr/>
        </p:nvSpPr>
        <p:spPr>
          <a:xfrm>
            <a:off x="5640796" y="27889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18-23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32236" y="301752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732236" y="3017520"/>
            <a:ext cx="9144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5750524" y="307238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聊天系统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50524" y="336499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即时消息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182213" y="2423160"/>
            <a:ext cx="182880" cy="1828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3" name="Text 41"/>
          <p:cNvSpPr/>
          <p:nvPr/>
        </p:nvSpPr>
        <p:spPr>
          <a:xfrm>
            <a:off x="6725013" y="18745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24-27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16453" y="109728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6453" y="1097280"/>
            <a:ext cx="914400" cy="2743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6834741" y="115214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联调测试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34741" y="144475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 + 边界测试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266430" y="2423160"/>
            <a:ext cx="182880" cy="1828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9" name="Text 47"/>
          <p:cNvSpPr/>
          <p:nvPr/>
        </p:nvSpPr>
        <p:spPr>
          <a:xfrm>
            <a:off x="7809230" y="27889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28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900670" y="3017520"/>
            <a:ext cx="914400" cy="64008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900670" y="3017520"/>
            <a:ext cx="914400" cy="274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2" name="Text 50"/>
          <p:cNvSpPr/>
          <p:nvPr/>
        </p:nvSpPr>
        <p:spPr>
          <a:xfrm>
            <a:off x="7918958" y="3072384"/>
            <a:ext cx="8778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上线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918958" y="336499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部署 + 推广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55" name="Shape 53"/>
          <p:cNvSpPr/>
          <p:nvPr/>
        </p:nvSpPr>
        <p:spPr>
          <a:xfrm>
            <a:off x="457200" y="3749040"/>
            <a:ext cx="45720" cy="100584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0"/>
            <a:ext cx="274320" cy="27432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1051560" y="3840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MVP 范围裁剪（时间紧张时）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1051560" y="41605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不可砍：用户 + 商品 + 搜索 + 聊天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可简化：WebSocket → 短轮询（省 2 天）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可延后：收藏功能、商品编辑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风险与备选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提前识别，有备无患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" cy="1188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SQLite 并发瓶颈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17520" y="13258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概率:低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0" y="13258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影响:中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17830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应对：MVP 阶段用户量小，SQLite 足够；可平滑升级至 MySQL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3931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1188720"/>
            <a:ext cx="45720" cy="1188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1325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邮箱验证被拦截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223760" y="13258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概率:中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863840" y="13258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影响:中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830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17830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应对：提供验证码重发机制 + 管理员手动激活账号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2560320"/>
            <a:ext cx="3931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2560320"/>
            <a:ext cx="45720" cy="1188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2697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WebSocket 不稳定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017520" y="26974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概率:中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3657600" y="26974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影响:低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440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应对：降级方案：3 秒短轮询，用户无感知切换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663440" y="2560320"/>
            <a:ext cx="3931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663440" y="2560320"/>
            <a:ext cx="45720" cy="1188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743200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57800" y="2697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虚假/违规商品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7223760" y="26974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概率:中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7863840" y="26974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影响:高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154680"/>
            <a:ext cx="228600" cy="2286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2064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应对：举报功能 + 人工审核下架机制 + 学号实名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57200" y="3931920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457200" y="3931920"/>
            <a:ext cx="45720" cy="1188720"/>
          </a:xfrm>
          <a:prstGeom prst="rect">
            <a:avLst/>
          </a:prstGeom>
          <a:solidFill>
            <a:srgbClr val="DC2626"/>
          </a:solidFill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14800"/>
            <a:ext cx="320040" cy="32004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051560" y="4069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冷启动失败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3017520" y="40690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概率:高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3840480" y="40690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影响:高</a:t>
            </a:r>
            <a:endParaRPr lang="en-US" sz="9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26280"/>
            <a:ext cx="228600" cy="2286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14400" y="44805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应对：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1280160" y="448056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运营先发 20-30 条模拟商品 + 班级群定向邀请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6576" cy="3657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914400" y="3200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需要决策的事项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955280" cy="960120"/>
          </a:xfrm>
          <a:prstGeom prst="rect">
            <a:avLst/>
          </a:prstGeom>
          <a:solidFill>
            <a:srgbClr val="1A2D4A"/>
          </a:solidFill>
        </p:spPr>
      </p:sp>
      <p:sp>
        <p:nvSpPr>
          <p:cNvPr id="5" name="Shape 3"/>
          <p:cNvSpPr/>
          <p:nvPr/>
        </p:nvSpPr>
        <p:spPr>
          <a:xfrm>
            <a:off x="731520" y="914400"/>
            <a:ext cx="45720" cy="960120"/>
          </a:xfrm>
          <a:prstGeom prst="rect">
            <a:avLst/>
          </a:prstGeom>
          <a:solidFill>
            <a:srgbClr val="2563EB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2412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98755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身份验证方案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26187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是否采用学校邮箱验证作为 MVP 身份验证方案？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53619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选项 A：学校邮箱验证  |  选项 B：学号 + 姓名验证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103120"/>
            <a:ext cx="7955280" cy="960120"/>
          </a:xfrm>
          <a:prstGeom prst="rect">
            <a:avLst/>
          </a:prstGeom>
          <a:solidFill>
            <a:srgbClr val="1A2D4A"/>
          </a:solidFill>
        </p:spPr>
      </p:sp>
      <p:sp>
        <p:nvSpPr>
          <p:cNvPr id="11" name="Shape 8"/>
          <p:cNvSpPr/>
          <p:nvPr/>
        </p:nvSpPr>
        <p:spPr>
          <a:xfrm>
            <a:off x="731520" y="2103120"/>
            <a:ext cx="45720" cy="9601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1284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1762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推广渠道选择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245059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首批种子用户通过什么渠道获取？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463040" y="272491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选项 A：班级群转发  |  选项 B：线下海报扫码  |  选项 C：两者并行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3291840"/>
            <a:ext cx="7955280" cy="960120"/>
          </a:xfrm>
          <a:prstGeom prst="rect">
            <a:avLst/>
          </a:prstGeom>
          <a:solidFill>
            <a:srgbClr val="1A2D4A"/>
          </a:solidFill>
        </p:spPr>
      </p:sp>
      <p:sp>
        <p:nvSpPr>
          <p:cNvPr id="17" name="Shape 13"/>
          <p:cNvSpPr/>
          <p:nvPr/>
        </p:nvSpPr>
        <p:spPr>
          <a:xfrm>
            <a:off x="731520" y="3291840"/>
            <a:ext cx="45720" cy="960120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0156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3649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平台命名策略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463040" y="363931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平台名称是否需要与学校品牌关联？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463040" y="391363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选项 A：「XX 集市」绑定学校品牌  |  选项 B：独立品牌名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3" name="Text 18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请在会上决策以上事项 →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2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3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4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5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6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7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8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9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10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11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12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13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14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15.xml><?xml version="1.0" encoding="utf-8"?>
<p:tagLst xmlns:p="http://schemas.openxmlformats.org/presentationml/2006/main">
  <p:tag name="KSO_WM_DIAGRAM_VIRTUALLY_FRAME" val="{&quot;height&quot;:279.6,&quot;left&quot;:54,&quot;top&quot;:98.4,&quot;width&quot;:625.7}"/>
</p:tagLst>
</file>

<file path=ppt/tags/tag16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17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18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19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0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1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2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3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4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5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6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7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8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29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0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1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2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3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4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5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6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7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8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39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40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41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42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43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ags/tag44.xml><?xml version="1.0" encoding="utf-8"?>
<p:tagLst xmlns:p="http://schemas.openxmlformats.org/presentationml/2006/main">
  <p:tag name="KSO_WM_DIAGRAM_VIRTUALLY_FRAME" val="{&quot;height&quot;:136.8,&quot;left&quot;:21.6,&quot;top&quot;:100.8,&quot;width&quot;:69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WPS 演示</Application>
  <PresentationFormat>On-screen Show (16:9)</PresentationFormat>
  <Paragraphs>371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校园二手交易平台 - 产品路演</dc:title>
  <dc:creator>Product Team</dc:creator>
  <dc:subject>Campus Second-hand Trading Platform</dc:subject>
  <cp:lastModifiedBy>李俊翔</cp:lastModifiedBy>
  <cp:revision>4</cp:revision>
  <dcterms:created xsi:type="dcterms:W3CDTF">2026-05-19T17:27:00Z</dcterms:created>
  <dcterms:modified xsi:type="dcterms:W3CDTF">2026-05-19T17:37:08Z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636F14E80C8047248D69805A70AEFEBD_12</vt:lpwstr>
  </property>
  <property fmtid="{D5CDD505-2E9C-101B-9397-08002B2CF9AE}" pid="3" name="KSOProductBuildVer">
    <vt:lpwstr>2052-12.1.0.23542</vt:lpwstr>
  </property>
</Properties>
</file>